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33288" y="1417320"/>
            <a:ext cx="731520" cy="731520"/>
          </a:xfrm>
          <a:prstGeom prst="ellipse">
            <a:avLst/>
          </a:prstGeom>
          <a:solidFill>
            <a:srgbClr val="1A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916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E2E8F0"/>
                </a:solidFill>
                <a:latin typeface="Calibri"/>
              </a:rPr>
              <a:t>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E2E8F0"/>
                </a:solidFill>
                <a:latin typeface="Calibri"/>
              </a:rPr>
              <a:t>DeepTraffic-Guard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91695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0A5FA"/>
                </a:solidFill>
                <a:latin typeface="Calibri"/>
              </a:rPr>
              <a:t>Turning Every Traffic Camera Into a 24/7 Enforcement Officer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977639"/>
            <a:ext cx="12191695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Real-Time AI Violation Detection  •  Zero Manual Setup  •  Evidence-Grade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8671" y="47091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60A5FA"/>
                </a:solidFill>
              </a:rPr>
              <a:t>YOLOV8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4591" y="47091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60A5FA"/>
                </a:solidFill>
              </a:rPr>
              <a:t>OPENCV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0511" y="4709160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60A5FA"/>
                </a:solidFill>
              </a:rPr>
              <a:t>EASYOCR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1023" y="470916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60A5FA"/>
                </a:solidFill>
              </a:rPr>
              <a:t>STREAMLIT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0719" y="470916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60A5FA"/>
                </a:solidFill>
              </a:rPr>
              <a:t>8 VIOLATIONS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Live Demo  →  deeptraffic-guard.streamlit.app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THE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2E8F0"/>
                </a:solidFill>
                <a:latin typeface="Calibri"/>
              </a:rPr>
              <a:t>Right now, somewhere in your city...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033272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37744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313432"/>
            <a:ext cx="9326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2E8F0"/>
                </a:solidFill>
                <a:latin typeface="Calibri"/>
              </a:rPr>
              <a:t>A rider with no helmet just passed an intersection camera.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1033272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383280"/>
            <a:ext cx="320040" cy="3200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3319272"/>
            <a:ext cx="9326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2E8F0"/>
                </a:solidFill>
                <a:latin typeface="Calibri"/>
              </a:rPr>
              <a:t>Three people are crammed onto one motorcycle.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1033272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38912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4325112"/>
            <a:ext cx="9326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2E8F0"/>
                </a:solidFill>
                <a:latin typeface="Calibri"/>
              </a:rPr>
              <a:t>A car just ran a red light at full speed.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332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 i="1">
                <a:solidFill>
                  <a:srgbClr val="60A5FA"/>
                </a:solidFill>
                <a:latin typeface="Calibri"/>
              </a:rPr>
              <a:t>Nobody saw any of it. The camera recorded it — but no one was watching.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The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Enforcement capacity hasn't scaled with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7607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▸ One officer, one junction.  </a:t>
            </a:r>
            <a:r>
              <a:rPr sz="1450" b="0">
                <a:solidFill>
                  <a:srgbClr val="94A3B8"/>
                </a:solidFill>
                <a:latin typeface="Calibri"/>
              </a:rPr>
              <a:t>The moment they look away, or move to another junction, violations elsewhere go completely unnoticed.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▸ The cameras already exist.  </a:t>
            </a:r>
            <a:r>
              <a:rPr sz="1450" b="0">
                <a:solidFill>
                  <a:srgbClr val="94A3B8"/>
                </a:solidFill>
                <a:latin typeface="Calibri"/>
              </a:rPr>
              <a:t>Most cities have traffic cameras on nearly every major junction — footage is recorded, but rarely actively monitored in real time.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▸ The stakes are lives, not fines.  </a:t>
            </a:r>
            <a:r>
              <a:rPr sz="1450" b="0">
                <a:solidFill>
                  <a:srgbClr val="94A3B8"/>
                </a:solidFill>
                <a:latin typeface="Calibri"/>
              </a:rPr>
              <a:t>Helmet, seatbelt, and red-light laws exist because ignoring them is a leading cause of fatal accidents — not because of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874519"/>
            <a:ext cx="4800600" cy="402336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103120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0A5FA"/>
                </a:solidFill>
                <a:latin typeface="Calibri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560320"/>
            <a:ext cx="4297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E2E8F0"/>
                </a:solidFill>
                <a:latin typeface="Calibri"/>
              </a:rPr>
              <a:t>Footage exists.</a:t>
            </a:r>
          </a:p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E2E8F0"/>
                </a:solidFill>
                <a:latin typeface="Calibri"/>
              </a:rPr>
              <a:t>Watching doesn't.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3794760"/>
            <a:ext cx="4023360" cy="15240"/>
          </a:xfrm>
          <a:prstGeom prst="rect">
            <a:avLst/>
          </a:prstGeom>
          <a:solidFill>
            <a:srgbClr val="1E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023360"/>
            <a:ext cx="402336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A system that watches every frame, never gets tired, never looks away — and turns footage that already exists into evidence that gets acted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One photo in. Full evidence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7899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4A3B8"/>
                </a:solidFill>
                <a:latin typeface="Calibri"/>
              </a:rPr>
              <a:t>Upload a traffic camera photo or video. DeepTraffic-Guard automatically finds every vehicle and person, checks 8 violation types, reads license plates, and produces evidence-grade output — with zero manual setup per camera.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627632" cy="1508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E8F0"/>
                </a:solidFill>
                <a:latin typeface="Calibri"/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2E8F0"/>
                </a:solidFill>
                <a:latin typeface="Calibri"/>
              </a:rP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627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37560"/>
            <a:ext cx="201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971800"/>
            <a:ext cx="1627632" cy="1508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108960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E8F0"/>
                </a:solidFill>
                <a:latin typeface="Calibri"/>
              </a:rPr>
              <a:t>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49039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2E8F0"/>
                </a:solidFill>
                <a:latin typeface="Calibri"/>
              </a:rPr>
              <a:t>Auto-Enhance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69080"/>
            <a:ext cx="1627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37560"/>
            <a:ext cx="201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971800"/>
            <a:ext cx="1627632" cy="1508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108960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E8F0"/>
                </a:solidFill>
                <a:latin typeface="Calibr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49039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2E8F0"/>
                </a:solidFill>
                <a:latin typeface="Calibri"/>
              </a:rPr>
              <a:t>Detect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069080"/>
            <a:ext cx="1627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337560"/>
            <a:ext cx="201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971800"/>
            <a:ext cx="1627632" cy="1508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108960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E8F0"/>
                </a:solidFill>
                <a:latin typeface="Calibri"/>
              </a:rPr>
              <a:t>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49039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2E8F0"/>
                </a:solidFill>
                <a:latin typeface="Calibri"/>
              </a:rPr>
              <a:t>Find Road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69080"/>
            <a:ext cx="1627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337560"/>
            <a:ext cx="201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2971800"/>
            <a:ext cx="1627632" cy="1508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3108960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E8F0"/>
                </a:solidFill>
                <a:latin typeface="Calibri"/>
              </a:rPr>
              <a:t>⚖️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749039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2E8F0"/>
                </a:solidFill>
                <a:latin typeface="Calibri"/>
              </a:rPr>
              <a:t>Check Violations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069080"/>
            <a:ext cx="1627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337560"/>
            <a:ext cx="201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2971800"/>
            <a:ext cx="1627632" cy="1508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3108960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E8F0"/>
                </a:solidFill>
                <a:latin typeface="Calibri"/>
              </a:rPr>
              <a:t>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749039"/>
            <a:ext cx="16276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2E8F0"/>
                </a:solidFill>
                <a:latin typeface="Calibri"/>
              </a:rPr>
              <a:t>Evidence +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069080"/>
            <a:ext cx="1627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STEP 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83480"/>
            <a:ext cx="457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0A5FA"/>
                </a:solidFill>
                <a:latin typeface="Calibri"/>
              </a:rP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92624"/>
            <a:ext cx="987552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60A5FA"/>
                </a:solidFill>
                <a:latin typeface="Calibri"/>
              </a:rPr>
              <a:t>Key differentiator: stop lines, no-parking zones, and road signs are detected directly from the photo's road markings — never assumed, never hand-configured. The same system deploys instantly at a brand-new camera.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CORE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8 violation types, one unified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12140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191109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Helmet Non-Compliance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231136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Skin / hair / texture HSV analysis on rider head crop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212140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91109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Triple Riding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231136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Rider count linked per motorcycle bounding 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12724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291693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Red-Light Violation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236976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Traffic-light color check + stop-line crossing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3464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312724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291693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Wrong-Side Driving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3236976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Lane-center estimation via Hough line transform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4048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13308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1872" y="392277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Phone Use While Driving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242816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Cell-phone bbox overlap with driver / rider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4048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19088" y="4133088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392277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Stop-Line Violation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4242816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Vehicle position vs. auto-detected stop 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4632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5138928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492861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Seatbelt Non-Compliance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5248656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Diagonal-strap edge density in torso region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4632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19088" y="5138928"/>
            <a:ext cx="274320" cy="274320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9712" y="492861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Illegal Parking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5248656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Vehicle overlap with auto-detected curb-paint zones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3255264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LIVE DEMO ·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A real, unedited Bengaluru traffic photo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03504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828800"/>
            <a:ext cx="3931920" cy="452628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0574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0A5FA"/>
                </a:solidFill>
                <a:latin typeface="Calibri"/>
              </a:rPr>
              <a:t>ZERO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6888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E2E8F0"/>
                </a:solidFill>
                <a:latin typeface="Calibri"/>
              </a:rPr>
              <a:t>A location the system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E2E8F0"/>
                </a:solidFill>
                <a:latin typeface="Calibri"/>
              </a:rPr>
              <a:t>has never seen before.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429000"/>
            <a:ext cx="347472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  <a:latin typeface="Calibri"/>
              </a:rPr>
              <a:t>— No stop line marked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  <a:latin typeface="Calibri"/>
              </a:rPr>
              <a:t>— No parking zone marked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  <a:latin typeface="Calibri"/>
              </a:rPr>
              <a:t>— No lane config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892040"/>
            <a:ext cx="3200400" cy="12700"/>
          </a:xfrm>
          <a:prstGeom prst="rect">
            <a:avLst/>
          </a:prstGeom>
          <a:solidFill>
            <a:srgbClr val="1E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5074920"/>
            <a:ext cx="3474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12 objects in frame: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buses, cars, motorcycles,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riders, auto-rickshaws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3419856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LIVE DEMO ·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Same photo, processed in 7 milliseconds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97886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3255264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ENGINEERING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We don't just demo it — we stress-tested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789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4A3B8"/>
                </a:solidFill>
                <a:latin typeface="Calibri"/>
              </a:rPr>
              <a:t>Real photos break naive computer vision. Here's a bug we found and fixed by testing against actual traffic photos, not synthetic data: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🐛 THE 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754880" cy="2834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A rider wearing a bright red helmet was being flagged as 'no helmet'.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Root cause: pure red and fair skin tones share the same hue in HSV color space. Glossy highlights on the helmet shell were misread as exposed skin.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Deeper still: our own shadow-correction preprocessing step was silently desaturating colors across the whole image — masking the fix until we traced it end-to-end.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51460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E"/>
                </a:solidFill>
                <a:latin typeface="Calibri"/>
              </a:rPr>
              <a:t>✅ THE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937760" cy="2834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Added a 'helmet-shell rejection' signal: large saturated-color regions are recognized as painted shells, not skin.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Fixed shadow correction to adjust brightness only (HSV value channel), preserving true color for every downstream check.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Verified against the original photo + 13 other test images, plus synthetic boundary cases — zero regressions.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Eight decoupled, independently testable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651760"/>
            <a:ext cx="1207008" cy="123444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16352"/>
            <a:ext cx="12070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Image /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Video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999232"/>
            <a:ext cx="18810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9473" y="2651760"/>
            <a:ext cx="1207008" cy="12344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9473" y="2816352"/>
            <a:ext cx="12070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Preprocessor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6481" y="2999232"/>
            <a:ext cx="18810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4586" y="2651760"/>
            <a:ext cx="1207008" cy="123444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4586" y="2816352"/>
            <a:ext cx="12070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YOLOv8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1594" y="2999232"/>
            <a:ext cx="18810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9699" y="2651760"/>
            <a:ext cx="1207008" cy="12344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9699" y="2816352"/>
            <a:ext cx="12070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Rider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Association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6707" y="2999232"/>
            <a:ext cx="18810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4812" y="2651760"/>
            <a:ext cx="1207008" cy="123444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4812" y="2816352"/>
            <a:ext cx="12070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Road Zone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Auto-Detect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1820" y="2999232"/>
            <a:ext cx="18810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9925" y="2651760"/>
            <a:ext cx="1207008" cy="12344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9925" y="2816352"/>
            <a:ext cx="12070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Violation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6933" y="2999232"/>
            <a:ext cx="18810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5038" y="2651760"/>
            <a:ext cx="1207008" cy="123444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5038" y="2816352"/>
            <a:ext cx="12070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OCR +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Annotator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2046" y="2999232"/>
            <a:ext cx="18810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60152" y="2651760"/>
            <a:ext cx="1207008" cy="12344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0152" y="2816352"/>
            <a:ext cx="12070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PDF /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E2E8F0"/>
                </a:solidFill>
                <a:latin typeface="Calibri"/>
              </a:rPr>
              <a:t>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43484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Each module is a plain Python file with a single responsibility — preprocessing, detection, zone-finding, and violation logic never touch each other's internals. That separation is what let us isolate, reproduce, and fix the helmet bug in minutes instead of guessing across a monolith.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Built entirely on proven, open-source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0A5FA"/>
                </a:solidFill>
                <a:latin typeface="Calibri"/>
              </a:rPr>
              <a:t>YOLOv8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Real-time object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0896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475569"/>
                </a:solidFill>
              </a:rPr>
              <a:t>ULTRALYTICS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84832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0A5FA"/>
                </a:solidFill>
                <a:latin typeface="Calibri"/>
              </a:rPr>
              <a:t>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42032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HSV, Canny, Hough, CLAHE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10896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475569"/>
                </a:solidFill>
              </a:rPr>
              <a:t>CLASSIC 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84832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0A5FA"/>
                </a:solidFill>
                <a:latin typeface="Calibri"/>
              </a:rPr>
              <a:t>EasyOCR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42032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License plate text recognition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108960"/>
            <a:ext cx="3255264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475569"/>
                </a:solidFill>
              </a:rPr>
              <a:t>DEEP LEARNING OCR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947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0A5FA"/>
                </a:solidFill>
                <a:latin typeface="Calibri"/>
              </a:rPr>
              <a:t>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16552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Interactive web UI, zero frontend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83480"/>
            <a:ext cx="2596896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475569"/>
                </a:solidFill>
              </a:rPr>
              <a:t>PYTHON-NATIVE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7947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959352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0A5FA"/>
                </a:solidFill>
                <a:latin typeface="Calibri"/>
              </a:rPr>
              <a:t>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416552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Violation storage +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98348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475569"/>
                </a:solidFill>
              </a:rPr>
              <a:t>EMBEDDED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947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959352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0A5FA"/>
                </a:solidFill>
                <a:latin typeface="Calibri"/>
              </a:rPr>
              <a:t>fpdf2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16552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Auto-generated PDF evidence reports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498348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475569"/>
                </a:solidFill>
              </a:rPr>
              <a:t>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Tech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3584448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WHY WE'RE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Most CV hackathon projects stop at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657600" y="1874519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4A3B8"/>
                </a:solidFill>
                <a:latin typeface="Calibri"/>
              </a:rPr>
              <a:t>Typical Hackathon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874519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C55E"/>
                </a:solidFill>
                <a:latin typeface="Calibri"/>
              </a:rPr>
              <a:t>DeepTraffic-Guard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19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78023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2E8F0"/>
                </a:solidFill>
                <a:latin typeface="Calibri"/>
              </a:rPr>
              <a:t>Setup per new 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7802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✗  Manual zone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7802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Calibri"/>
              </a:rPr>
              <a:t>✓  Auto-detected from road paint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79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00983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2E8F0"/>
                </a:solidFill>
                <a:latin typeface="Calibri"/>
              </a:rPr>
              <a:t>Output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0098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✗  Raw bounding boxes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30098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Calibri"/>
              </a:rPr>
              <a:t>✓  Annotated evidence + PDF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23943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2E8F0"/>
                </a:solidFill>
                <a:latin typeface="Calibri"/>
              </a:rPr>
              <a:t>Input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2394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✗  Single image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12394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Calibri"/>
              </a:rPr>
              <a:t>✓  Image AND sampled video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599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46903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2E8F0"/>
                </a:solidFill>
                <a:latin typeface="Calibri"/>
              </a:rPr>
              <a:t>Violation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94690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✗  Usually 1-2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94690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Calibri"/>
              </a:rPr>
              <a:t>✓  8 independent violation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23559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69863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2E8F0"/>
                </a:solidFill>
                <a:latin typeface="Calibri"/>
              </a:rPr>
              <a:t>Testing rigor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76986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✗  Demo on curated images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769863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Calibri"/>
              </a:rPr>
              <a:t>✓  Stress-tested on real, messy photos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Differentiation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3090672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BEYOND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A complete, submission-ready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789920" cy="40233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5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▸ Video analysis mode  </a:t>
            </a:r>
            <a:r>
              <a:rPr sz="1450" b="0">
                <a:solidFill>
                  <a:srgbClr val="94A3B8"/>
                </a:solidFill>
                <a:latin typeface="Calibri"/>
              </a:rPr>
              <a:t>Frame-sampled scanning of full traffic video clips, with an annotated output video and a per-type violation timeline — not just single photos.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▸ One-click PDF evidence reports  </a:t>
            </a:r>
            <a:r>
              <a:rPr sz="1450" b="0">
                <a:solidFill>
                  <a:srgbClr val="94A3B8"/>
                </a:solidFill>
                <a:latin typeface="Calibri"/>
              </a:rPr>
              <a:t>Professional report generation: annotated frame, severity-coded violation table, and a dedicated evidence page per violation.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▸ Full analytics dashboard  </a:t>
            </a:r>
            <a:r>
              <a:rPr sz="1450" b="0">
                <a:solidFill>
                  <a:srgbClr val="94A3B8"/>
                </a:solidFill>
                <a:latin typeface="Calibri"/>
              </a:rPr>
              <a:t>Violations by type/severity/hour, searchable record history, CSV export, and automatic frame-hash deduplication.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▸ Zero manual configuration  </a:t>
            </a:r>
            <a:r>
              <a:rPr sz="1450" b="0">
                <a:solidFill>
                  <a:srgbClr val="94A3B8"/>
                </a:solidFill>
                <a:latin typeface="Calibri"/>
              </a:rPr>
              <a:t>Stop lines, parking zones, and signs are detected per-photo from actual road paint — the same system deploys instantly at any new camera.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IMPACT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Existing infrastructure, new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60A5FA"/>
                </a:solidFill>
                <a:latin typeface="Calibri"/>
              </a:rPr>
              <a:t>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Coverage per camera —</a:t>
            </a:r>
          </a:p>
          <a:p>
            <a:pPr algn="ctr">
              <a:lnSpc>
                <a:spcPct val="13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no shift changes, no fatigue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0574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60A5FA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4612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Independent violation</a:t>
            </a:r>
          </a:p>
          <a:p>
            <a:pPr algn="ctr">
              <a:lnSpc>
                <a:spcPct val="13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types checked per frame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574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8600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60A5FA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4612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Manual setup steps</a:t>
            </a:r>
          </a:p>
          <a:p>
            <a:pPr algn="ctr">
              <a:lnSpc>
                <a:spcPct val="130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required per new camera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2E8F0"/>
                </a:solidFill>
                <a:latin typeface="Calibri"/>
              </a:rPr>
              <a:t>Cities don't need new hardware to deploy this — every existing traffic camera becomes an active enforcement layer. Footage that already exists turns into evidence that already gets used.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00" b="1">
                <a:solidFill>
                  <a:srgbClr val="3B82F6"/>
                </a:solidFill>
              </a:rPr>
              <a:t>HONEST LIMITATIONS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E2E8F0"/>
                </a:solidFill>
                <a:latin typeface="Calibri"/>
              </a:rPr>
              <a:t>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502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F4444"/>
                </a:solidFill>
                <a:latin typeface="Calibri"/>
              </a:rPr>
              <a:t>TODAY'S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▸ Resolution floor  </a:t>
            </a:r>
            <a:r>
              <a:rPr sz="1300" b="0">
                <a:solidFill>
                  <a:srgbClr val="94A3B8"/>
                </a:solidFill>
                <a:latin typeface="Calibri"/>
              </a:rPr>
              <a:t>Tiny/distant riders have too few pixels for reliable head analysis.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▸ Heuristic vs. trained models  </a:t>
            </a:r>
            <a:r>
              <a:rPr sz="1300" b="0">
                <a:solidFill>
                  <a:srgbClr val="94A3B8"/>
                </a:solidFill>
                <a:latin typeface="Calibri"/>
              </a:rPr>
              <a:t>Helmet/seatbelt use rule-based CV rather than a dedicated trained classifier — by design, for transparency.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▸ Multi-lane highways  </a:t>
            </a:r>
            <a:r>
              <a:rPr sz="1300" b="0">
                <a:solidFill>
                  <a:srgbClr val="94A3B8"/>
                </a:solidFill>
                <a:latin typeface="Calibri"/>
              </a:rPr>
              <a:t>Wrong-side check assumes a simple two-lane road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C55E"/>
                </a:solidFill>
                <a:latin typeface="Calibr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21208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Trained helmet classifier  </a:t>
            </a:r>
            <a:r>
              <a:rPr sz="1300" b="0">
                <a:solidFill>
                  <a:srgbClr val="94A3B8"/>
                </a:solidFill>
                <a:latin typeface="Calibri"/>
              </a:rPr>
              <a:t>Fine-tune a model on labeled helmet/no-helmet photos for higher accuracy at distance.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Live camera feed ingestion  </a:t>
            </a:r>
            <a:r>
              <a:rPr sz="1300" b="0">
                <a:solidFill>
                  <a:srgbClr val="94A3B8"/>
                </a:solidFill>
                <a:latin typeface="Calibri"/>
              </a:rPr>
              <a:t>Connect directly to RTSP/live streams instead of file upload.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Multi-camera fleet dashboard  </a:t>
            </a:r>
            <a:r>
              <a:rPr sz="1300" b="0">
                <a:solidFill>
                  <a:srgbClr val="94A3B8"/>
                </a:solidFill>
                <a:latin typeface="Calibri"/>
              </a:rPr>
              <a:t>Aggregate analytics across many camera nodes, city-wide.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DEEPTRAFFIC-GUARD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473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E2E8F0"/>
                </a:solidFill>
                <a:latin typeface="Calibri"/>
              </a:rPr>
              <a:t>See It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7180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60A5FA"/>
                </a:solidFill>
                <a:latin typeface="Calibri"/>
              </a:rPr>
              <a:t>DeepTraffic-Guard — AI Traffic Enforcement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3749039"/>
            <a:ext cx="4114800" cy="777240"/>
          </a:xfrm>
          <a:prstGeom prst="roundRect">
            <a:avLst>
              <a:gd name="adj" fmla="val 6000"/>
            </a:avLst>
          </a:prstGeom>
          <a:solidFill>
            <a:srgbClr val="1A22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3931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60A5FA"/>
                </a:solidFill>
                <a:latin typeface="Calibri"/>
              </a:rPr>
              <a:t>deeptraffic-guard.streamlit.app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github.com/anmol-2-4/deeptraffic-guard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94A3B8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